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685800"/>
            <a:ext cx="2103120" cy="2103120"/>
          </a:xfrm>
          <a:prstGeom prst="ellipse">
            <a:avLst/>
          </a:prstGeom>
          <a:solidFill>
            <a:srgbClr val="D3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38360" y="1828800"/>
            <a:ext cx="1463040" cy="1463040"/>
          </a:xfrm>
          <a:prstGeom prst="ellipse">
            <a:avLst/>
          </a:prstGeom>
          <a:solidFill>
            <a:srgbClr val="FFC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3154680"/>
            <a:ext cx="1143000" cy="11430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6920" y="3886200"/>
            <a:ext cx="1737360" cy="1737360"/>
          </a:xfrm>
          <a:prstGeom prst="ellipse">
            <a:avLst/>
          </a:prstGeom>
          <a:solidFill>
            <a:srgbClr val="30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32520" y="210312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2350008"/>
            <a:ext cx="1371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600" b="1">
                <a:solidFill>
                  <a:srgbClr val="308268"/>
                </a:solidFill>
                <a:latin typeface="Aptos"/>
              </a:defRPr>
            </a:pPr>
            <a:r>
              <a:t>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70408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308268"/>
                </a:solidFill>
                <a:latin typeface="Aptos"/>
              </a:defRPr>
            </a:pPr>
            <a:r>
              <a:t>SMART INDIA HACKATHON  •  SIH26219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07008"/>
            <a:ext cx="603504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4200" b="1">
                <a:solidFill>
                  <a:srgbClr val="182E2B"/>
                </a:solidFill>
                <a:latin typeface="Aptos"/>
              </a:defRPr>
            </a:pPr>
            <a:r>
              <a:t>FoundIt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93392"/>
            <a:ext cx="66751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300" b="1">
                <a:solidFill>
                  <a:srgbClr val="308268"/>
                </a:solidFill>
                <a:latin typeface="Aptos"/>
              </a:defRPr>
            </a:pPr>
            <a:r>
              <a:t>Lost &amp; Found, made smarter.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653796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700" b="0">
                <a:solidFill>
                  <a:srgbClr val="5D6F6A"/>
                </a:solidFill>
                <a:latin typeface="Aptos"/>
              </a:defRPr>
            </a:pPr>
            <a:r>
              <a:t>A student innovation concept for reporting lost belongings, discovering found items, and helping return them safely through one organized digital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51960"/>
            <a:ext cx="2057400" cy="310896"/>
          </a:xfrm>
          <a:prstGeom prst="roundRect">
            <a:avLst/>
          </a:prstGeom>
          <a:solidFill>
            <a:srgbClr val="18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311396"/>
            <a:ext cx="1911095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CENTRALIZED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251960"/>
            <a:ext cx="1417320" cy="310896"/>
          </a:xfrm>
          <a:prstGeom prst="roundRect">
            <a:avLst/>
          </a:prstGeom>
          <a:solidFill>
            <a:srgbClr val="30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4311396"/>
            <a:ext cx="127101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SMART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251960"/>
            <a:ext cx="1600200" cy="310896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4311396"/>
            <a:ext cx="1453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00" b="1">
                <a:solidFill>
                  <a:srgbClr val="182E2B"/>
                </a:solidFill>
                <a:latin typeface="Aptos"/>
              </a:defRPr>
            </a:pPr>
            <a:r>
              <a:t>SAFER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74920"/>
            <a:ext cx="6492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230368"/>
            <a:ext cx="13258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193792"/>
            <a:ext cx="4617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1">
                <a:solidFill>
                  <a:srgbClr val="182E2B"/>
                </a:solidFill>
                <a:latin typeface="Aptos"/>
              </a:defRPr>
            </a:pPr>
            <a:r>
              <a:t>Scattered reports and manual searching make it hard to match belongings with their rightful owners.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63640"/>
            <a:ext cx="10515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5D6F6A"/>
                </a:solidFill>
                <a:latin typeface="Aptos"/>
              </a:defRPr>
            </a:pPr>
            <a:r>
              <a:t>Concept reference ID: SIH26219 • Verify the official problem-statement title and theme before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1">
                <a:solidFill>
                  <a:srgbClr val="308268"/>
                </a:solidFill>
                <a:latin typeface="Aptos"/>
              </a:defRPr>
            </a:pPr>
            <a:r>
              <a:t>01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700" b="1">
                <a:solidFill>
                  <a:srgbClr val="182E2B"/>
                </a:solidFill>
                <a:latin typeface="Aptos"/>
              </a:defRPr>
            </a:pPr>
            <a:r>
              <a:t>One simple place to report, search,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29184"/>
            <a:ext cx="8229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D6F6A"/>
                </a:solidFill>
                <a:latin typeface="Aptos"/>
              </a:defRPr>
            </a:pPr>
            <a:r>
              <a:t>02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35024"/>
            <a:ext cx="914400" cy="5029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60704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600" b="0">
                <a:solidFill>
                  <a:srgbClr val="5D6F6A"/>
                </a:solidFill>
                <a:latin typeface="Aptos"/>
              </a:defRPr>
            </a:pPr>
            <a:r>
              <a:t>FoundIt replaces scattered messages and word-of-mouth searching with an organized lost-and-found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404872"/>
            <a:ext cx="73152" cy="347472"/>
          </a:xfrm>
          <a:prstGeom prst="roundRect">
            <a:avLst/>
          </a:prstGeom>
          <a:solidFill>
            <a:srgbClr val="30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38658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01  Report an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3026664" cy="704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Submit a lost or found report with category, description, date, and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5424" y="2404872"/>
            <a:ext cx="73152" cy="347472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38658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02  Search smarter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34640"/>
            <a:ext cx="3026664" cy="704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Search by item name and location; use categories and filters to narrow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3024" y="2404872"/>
            <a:ext cx="73152" cy="347472"/>
          </a:xfrm>
          <a:prstGeom prst="roundRect">
            <a:avLst/>
          </a:prstGeom>
          <a:solidFill>
            <a:srgbClr val="FFC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38658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03  Recover safely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34640"/>
            <a:ext cx="3026664" cy="704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Use private contact options and ownership checks before returning valuable items.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5212080" cy="1417320"/>
          </a:xfrm>
          <a:prstGeom prst="round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70832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308268"/>
                </a:solidFill>
                <a:latin typeface="Aptos"/>
              </a:defRPr>
            </a:pPr>
            <a:r>
              <a:t>WHO BENEFITS?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36592"/>
            <a:ext cx="4617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182E2B"/>
                </a:solidFill>
                <a:latin typeface="Aptos"/>
              </a:defRPr>
            </a:pPr>
            <a:r>
              <a:t>Students and staff on campuses; visitors at libraries, parks, community spaces, and—where partner authorities cooperate—transport hubs.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212080" cy="1417320"/>
          </a:xfrm>
          <a:prstGeom prst="roundRect">
            <a:avLst/>
          </a:prstGeom>
          <a:solidFill>
            <a:srgbClr val="18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7083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FFCF5C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36592"/>
            <a:ext cx="46177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Less time spent searching, better-organized reports, more community participation, and a clearer path to safe item recovery.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72200"/>
            <a:ext cx="10515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0">
                <a:solidFill>
                  <a:srgbClr val="5D6F6A"/>
                </a:solidFill>
                <a:latin typeface="Aptos"/>
              </a:defRPr>
            </a:pPr>
            <a:r>
              <a:t>Focus: keep reports clear, searchable, and privacy-conscious.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1">
                <a:solidFill>
                  <a:srgbClr val="308268"/>
                </a:solidFill>
                <a:latin typeface="Aptos"/>
              </a:defRPr>
            </a:pPr>
            <a:r>
              <a:t>02 / PRODUCT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700" b="1">
                <a:solidFill>
                  <a:srgbClr val="182E2B"/>
                </a:solidFill>
                <a:latin typeface="Aptos"/>
              </a:defRPr>
            </a:pPr>
            <a:r>
              <a:t>A practical web app—with room to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29184"/>
            <a:ext cx="8229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D6F6A"/>
                </a:solidFill>
                <a:latin typeface="Aptos"/>
              </a:defRPr>
            </a:pPr>
            <a:r>
              <a:t>03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35024"/>
            <a:ext cx="914400" cy="5029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73152" cy="347472"/>
          </a:xfrm>
          <a:prstGeom prst="roundRect">
            <a:avLst/>
          </a:prstGeom>
          <a:solidFill>
            <a:srgbClr val="30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79222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302666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Lost/found forms • photo uploads • category filters • location tags • report 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1810512"/>
            <a:ext cx="73152" cy="347472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79222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TECH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40280"/>
            <a:ext cx="302666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HTML, CSS, JavaScript; Node.js/Express backend; database for persistent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1810512"/>
            <a:ext cx="73152" cy="347472"/>
          </a:xfrm>
          <a:prstGeom prst="roundRect">
            <a:avLst/>
          </a:prstGeom>
          <a:solidFill>
            <a:srgbClr val="FFC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79222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ACCESS &amp;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40280"/>
            <a:ext cx="302666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Browser access on phones and computers; admin review can help remove misleading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1">
                <a:solidFill>
                  <a:srgbClr val="308268"/>
                </a:solidFill>
                <a:latin typeface="Aptos"/>
              </a:defRPr>
            </a:pPr>
            <a:r>
              <a:t>FUTURE INNOVATION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4187952"/>
            <a:ext cx="73152" cy="347472"/>
          </a:xfrm>
          <a:prstGeom prst="roundRect">
            <a:avLst/>
          </a:prstGeom>
          <a:solidFill>
            <a:srgbClr val="30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16966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AI MATCH SUGGESTIONS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617720"/>
            <a:ext cx="3026664" cy="61264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5D6F6A"/>
                </a:solidFill>
                <a:latin typeface="Aptos"/>
              </a:defRPr>
            </a:pPr>
            <a:r>
              <a:t>Compare descriptions, categories, images, and locations to suggest possible matches.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233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35424" y="4187952"/>
            <a:ext cx="73152" cy="347472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416966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REAL-TIME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617720"/>
            <a:ext cx="3026664" cy="61264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5D6F6A"/>
                </a:solidFill>
                <a:latin typeface="Aptos"/>
              </a:defRPr>
            </a:pPr>
            <a:r>
              <a:t>Notify users when a new report may match their missing item.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0233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93024" y="4187952"/>
            <a:ext cx="73152" cy="347472"/>
          </a:xfrm>
          <a:prstGeom prst="roundRect">
            <a:avLst/>
          </a:prstGeom>
          <a:solidFill>
            <a:srgbClr val="FFC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416966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QR &amp; LOCATION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617720"/>
            <a:ext cx="3026664" cy="61264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0">
                <a:solidFill>
                  <a:srgbClr val="5D6F6A"/>
                </a:solidFill>
                <a:latin typeface="Aptos"/>
              </a:defRPr>
            </a:pPr>
            <a:r>
              <a:t>QR codes can link to reporting instructions; location-based discovery can narrow results.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60704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0">
                <a:solidFill>
                  <a:srgbClr val="5D6F6A"/>
                </a:solidFill>
                <a:latin typeface="Aptos"/>
              </a:defRPr>
            </a:pPr>
            <a:r>
              <a:t>AI matching, notifications, QR support, and image analysis are proposed future features unless implemented in the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961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00" b="1">
                <a:solidFill>
                  <a:srgbClr val="308268"/>
                </a:solidFill>
                <a:latin typeface="Aptos"/>
              </a:defRPr>
            </a:pPr>
            <a:r>
              <a:t>03 /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700" b="1">
                <a:solidFill>
                  <a:srgbClr val="182E2B"/>
                </a:solidFill>
                <a:latin typeface="Aptos"/>
              </a:defRPr>
            </a:pPr>
            <a:r>
              <a:t>Make recovery easier—and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29184"/>
            <a:ext cx="8229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D6F6A"/>
                </a:solidFill>
                <a:latin typeface="Aptos"/>
              </a:defRPr>
            </a:pPr>
            <a:r>
              <a:t>04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35024"/>
            <a:ext cx="914400" cy="50292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810512"/>
            <a:ext cx="73152" cy="347472"/>
          </a:xfrm>
          <a:prstGeom prst="round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79222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3026664" cy="8869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Hide sensitive details in public listings, verify ownership privately, and provide a way to flag suspicious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1810512"/>
            <a:ext cx="73152" cy="347472"/>
          </a:xfrm>
          <a:prstGeom prst="roundRect">
            <a:avLst/>
          </a:prstGeom>
          <a:solidFill>
            <a:srgbClr val="30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79222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BUILD IN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40280"/>
            <a:ext cx="3026664" cy="8869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Start with reporting, search, and categories; then add accounts, admin moderation, alerts, and AI matching.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1810512"/>
            <a:ext cx="73152" cy="347472"/>
          </a:xfrm>
          <a:prstGeom prst="roundRect">
            <a:avLst/>
          </a:prstGeom>
          <a:solidFill>
            <a:srgbClr val="FFC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792224"/>
            <a:ext cx="2953512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182E2B"/>
                </a:solidFill>
                <a:latin typeface="Aptos"/>
              </a:defRPr>
            </a:pPr>
            <a:r>
              <a:t>MEASURE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40280"/>
            <a:ext cx="3026664" cy="8869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0">
                <a:solidFill>
                  <a:srgbClr val="5D6F6A"/>
                </a:solidFill>
                <a:latin typeface="Aptos"/>
              </a:defRPr>
            </a:pPr>
            <a:r>
              <a:t>Track successful returns, time to find a match, unclaimed reports, and user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10744200" cy="1508760"/>
          </a:xfrm>
          <a:prstGeom prst="roundRect">
            <a:avLst/>
          </a:prstGeom>
          <a:solidFill>
            <a:srgbClr val="18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41648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1">
                <a:solidFill>
                  <a:srgbClr val="FFCF5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416552"/>
            <a:ext cx="1001268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FoundIt brings lost and found reports into one accessible platform. With smart search, community participation, and privacy-aware verification, it can help people reconnect with belongings more efficiently.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5120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100" b="1">
                <a:solidFill>
                  <a:srgbClr val="308268"/>
                </a:solidFill>
                <a:latin typeface="Aptos"/>
              </a:defRPr>
            </a:pPr>
            <a:r>
              <a:t>SMART INDIA HACKATHON REFERENCE: SIH26219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80760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00" b="0">
                <a:solidFill>
                  <a:srgbClr val="5D6F6A"/>
                </a:solidFill>
                <a:latin typeface="Aptos"/>
              </a:defRPr>
            </a:pPr>
            <a:r>
              <a:t>This deck uses SIH26219 as the reference ID supplied by the user; confirm official title/theme and ensure proposed features are labelled accurately.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