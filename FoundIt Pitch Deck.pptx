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boto Bold" charset="1" panose="02000000000000000000"/>
      <p:regular r:id="rId10"/>
    </p:embeddedFont>
    <p:embeddedFont>
      <p:font typeface="Inter Bold" charset="1" panose="020B0802030000000004"/>
      <p:regular r:id="rId11"/>
    </p:embeddedFont>
    <p:embeddedFont>
      <p:font typeface="Roboto" charset="1" panose="02000000000000000000"/>
      <p:regular r:id="rId12"/>
    </p:embeddedFont>
    <p:embeddedFont>
      <p:font typeface="Inter Semi-Bold" charset="1" panose="02000503000000020004"/>
      <p:regular r:id="rId13"/>
    </p:embeddedFont>
    <p:embeddedFont>
      <p:font typeface="Inter Medium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20" Target="../media/image32.png" Type="http://schemas.openxmlformats.org/officeDocument/2006/relationships/image"/><Relationship Id="rId21" Target="../media/image33.png" Type="http://schemas.openxmlformats.org/officeDocument/2006/relationships/image"/><Relationship Id="rId22" Target="../media/image3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852695"/>
            <a:ext cx="5457962" cy="9007957"/>
          </a:xfrm>
          <a:custGeom>
            <a:avLst/>
            <a:gdLst/>
            <a:ahLst/>
            <a:cxnLst/>
            <a:rect r="r" b="b" t="t" l="l"/>
            <a:pathLst>
              <a:path h="9007957" w="5457962">
                <a:moveTo>
                  <a:pt x="0" y="0"/>
                </a:moveTo>
                <a:lnTo>
                  <a:pt x="5457962" y="0"/>
                </a:lnTo>
                <a:lnTo>
                  <a:pt x="5457962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9675" y="2011561"/>
            <a:ext cx="7757519" cy="254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54"/>
              </a:lnSpc>
            </a:pPr>
            <a:r>
              <a:rPr lang="en-US" sz="19054" spc="-762" b="true">
                <a:solidFill>
                  <a:srgbClr val="083D2F"/>
                </a:solidFill>
                <a:latin typeface="Roboto Bold"/>
                <a:ea typeface="Roboto Bold"/>
                <a:cs typeface="Roboto Bold"/>
                <a:sym typeface="Roboto Bold"/>
              </a:rPr>
              <a:t>FoundIt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6517" y="4400924"/>
            <a:ext cx="7788881" cy="73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5"/>
              </a:lnSpc>
            </a:pPr>
            <a:r>
              <a:rPr lang="en-US" sz="5585" b="true">
                <a:solidFill>
                  <a:srgbClr val="ED664B"/>
                </a:solidFill>
                <a:latin typeface="Inter Bold"/>
                <a:ea typeface="Inter Bold"/>
                <a:cs typeface="Inter Bold"/>
                <a:sym typeface="Inter Bold"/>
              </a:rPr>
              <a:t>Lost. Found. Reunited.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5564382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8038" y="6255854"/>
            <a:ext cx="5994621" cy="10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102" spc="-62">
                <a:solidFill>
                  <a:srgbClr val="083D2F"/>
                </a:solidFill>
                <a:latin typeface="Roboto"/>
                <a:ea typeface="Roboto"/>
                <a:cs typeface="Roboto"/>
                <a:sym typeface="Roboto"/>
              </a:rPr>
              <a:t>A smarter way to reconnect people with lost belongings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7499343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048" y="7958024"/>
            <a:ext cx="1677628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SIH26219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357" y="570450"/>
            <a:ext cx="13100221" cy="1168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8"/>
              </a:lnSpc>
            </a:pPr>
            <a:r>
              <a:rPr lang="en-US" sz="8798" spc="-438" b="true">
                <a:solidFill>
                  <a:srgbClr val="0F3B2D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→ Our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691" y="1825095"/>
            <a:ext cx="9666855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103" b="true">
                <a:solidFill>
                  <a:srgbClr val="0F3B2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FoundIt brings lost-and found into one simple, organized platform.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350377"/>
            <a:ext cx="7415828" cy="7510275"/>
          </a:xfrm>
          <a:custGeom>
            <a:avLst/>
            <a:gdLst/>
            <a:ahLst/>
            <a:cxnLst/>
            <a:rect r="r" b="b" t="t" l="l"/>
            <a:pathLst>
              <a:path h="7510275" w="7415828">
                <a:moveTo>
                  <a:pt x="0" y="0"/>
                </a:moveTo>
                <a:lnTo>
                  <a:pt x="7415828" y="0"/>
                </a:lnTo>
                <a:lnTo>
                  <a:pt x="741582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2995365"/>
            <a:ext cx="2843828" cy="655919"/>
          </a:xfrm>
          <a:custGeom>
            <a:avLst/>
            <a:gdLst/>
            <a:ahLst/>
            <a:cxnLst/>
            <a:rect r="r" b="b" t="t" l="l"/>
            <a:pathLst>
              <a:path h="655919" w="2843828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664" y="3123982"/>
            <a:ext cx="2678906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true">
                <a:solidFill>
                  <a:srgbClr val="F0F0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001" y="3773479"/>
            <a:ext cx="4556159" cy="115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spc="-114" b="true">
                <a:solidFill>
                  <a:srgbClr val="F0F0EA"/>
                </a:solidFill>
                <a:latin typeface="Roboto Bold"/>
                <a:ea typeface="Roboto Bold"/>
                <a:cs typeface="Roboto Bold"/>
                <a:sym typeface="Roboto Bold"/>
              </a:rPr>
              <a:t>Reports are scattered and hard to track.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5138034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71562" y="5875735"/>
            <a:ext cx="4286250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87" b="true">
                <a:solidFill>
                  <a:srgbClr val="F0F0EA"/>
                </a:solidFill>
                <a:latin typeface="Inter Medium"/>
                <a:ea typeface="Inter Medium"/>
                <a:cs typeface="Inter Medium"/>
                <a:sym typeface="Inter Medium"/>
              </a:rPr>
              <a:t>Scattered reports across</a:t>
            </a:r>
          </a:p>
          <a:p>
            <a:pPr algn="l">
              <a:lnSpc>
                <a:spcPts val="2844"/>
              </a:lnSpc>
            </a:pPr>
            <a:r>
              <a:rPr lang="en-US" sz="2188" spc="-87" b="true">
                <a:solidFill>
                  <a:srgbClr val="F0F0EA"/>
                </a:solidFill>
                <a:latin typeface="Inter Medium"/>
                <a:ea typeface="Inter Medium"/>
                <a:cs typeface="Inter Medium"/>
                <a:sym typeface="Inter Medium"/>
              </a:rPr>
              <a:t>notice boards, chats, and offices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1562" y="7005298"/>
            <a:ext cx="2678906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87" b="true">
                <a:solidFill>
                  <a:srgbClr val="F0F0EA"/>
                </a:solidFill>
                <a:latin typeface="Inter Medium"/>
                <a:ea typeface="Inter Medium"/>
                <a:cs typeface="Inter Medium"/>
                <a:sym typeface="Inter Medium"/>
              </a:rPr>
              <a:t>Slow communication and follow-up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562" y="8134861"/>
            <a:ext cx="4286250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87" b="true">
                <a:solidFill>
                  <a:srgbClr val="F0F0EA"/>
                </a:solidFill>
                <a:latin typeface="Inter Medium"/>
                <a:ea typeface="Inter Medium"/>
                <a:cs typeface="Inter Medium"/>
                <a:sym typeface="Inter Medium"/>
              </a:rPr>
              <a:t>Hard to find the right information when you need 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956440" y="5138034"/>
            <a:ext cx="1542230" cy="863627"/>
          </a:xfrm>
          <a:custGeom>
            <a:avLst/>
            <a:gdLst/>
            <a:ahLst/>
            <a:cxnLst/>
            <a:rect r="r" b="b" t="t" l="l"/>
            <a:pathLst>
              <a:path h="863627" w="1542230">
                <a:moveTo>
                  <a:pt x="0" y="0"/>
                </a:moveTo>
                <a:lnTo>
                  <a:pt x="1542230" y="0"/>
                </a:lnTo>
                <a:lnTo>
                  <a:pt x="154223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68976" y="2350377"/>
            <a:ext cx="9373694" cy="7510275"/>
          </a:xfrm>
          <a:custGeom>
            <a:avLst/>
            <a:gdLst/>
            <a:ahLst/>
            <a:cxnLst/>
            <a:rect r="r" b="b" t="t" l="l"/>
            <a:pathLst>
              <a:path h="7510275" w="9373694">
                <a:moveTo>
                  <a:pt x="0" y="0"/>
                </a:moveTo>
                <a:lnTo>
                  <a:pt x="9373694" y="0"/>
                </a:lnTo>
                <a:lnTo>
                  <a:pt x="937369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25244" y="2995365"/>
            <a:ext cx="2614134" cy="655919"/>
          </a:xfrm>
          <a:custGeom>
            <a:avLst/>
            <a:gdLst/>
            <a:ahLst/>
            <a:cxnLst/>
            <a:rect r="r" b="b" t="t" l="l"/>
            <a:pathLst>
              <a:path h="655919" w="2614134">
                <a:moveTo>
                  <a:pt x="0" y="0"/>
                </a:moveTo>
                <a:lnTo>
                  <a:pt x="2614134" y="0"/>
                </a:lnTo>
                <a:lnTo>
                  <a:pt x="261413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35070" y="3123982"/>
            <a:ext cx="2678906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true">
                <a:solidFill>
                  <a:srgbClr val="F0F0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02090" y="3743357"/>
            <a:ext cx="4545679" cy="97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161" b="true">
                <a:solidFill>
                  <a:srgbClr val="0F3B2D"/>
                </a:solidFill>
                <a:latin typeface="Roboto Bold"/>
                <a:ea typeface="Roboto Bold"/>
                <a:cs typeface="Roboto Bold"/>
                <a:sym typeface="Roboto Bold"/>
              </a:rPr>
              <a:t>FoundIt is one place</a:t>
            </a:r>
          </a:p>
          <a:p>
            <a:pPr algn="l">
              <a:lnSpc>
                <a:spcPts val="3881"/>
              </a:lnSpc>
            </a:pPr>
            <a:r>
              <a:rPr lang="en-US" sz="3234" spc="-161" b="true">
                <a:solidFill>
                  <a:srgbClr val="0F3B2D"/>
                </a:solidFill>
                <a:latin typeface="Roboto Bold"/>
                <a:ea typeface="Roboto Bold"/>
                <a:cs typeface="Roboto Bold"/>
                <a:sym typeface="Roboto Bold"/>
              </a:rPr>
              <a:t>to post, search, and report.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925244" y="4919394"/>
            <a:ext cx="1093780" cy="229572"/>
          </a:xfrm>
          <a:custGeom>
            <a:avLst/>
            <a:gdLst/>
            <a:ahLst/>
            <a:cxnLst/>
            <a:rect r="r" b="b" t="t" l="l"/>
            <a:pathLst>
              <a:path h="229572" w="1093780">
                <a:moveTo>
                  <a:pt x="0" y="0"/>
                </a:moveTo>
                <a:lnTo>
                  <a:pt x="1093780" y="0"/>
                </a:lnTo>
                <a:lnTo>
                  <a:pt x="109378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21816" y="5662261"/>
            <a:ext cx="2573040" cy="85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 b="true">
                <a:solidFill>
                  <a:srgbClr val="0F3B2D"/>
                </a:solidFill>
                <a:latin typeface="Inter Medium"/>
                <a:ea typeface="Inter Medium"/>
                <a:cs typeface="Inter Medium"/>
                <a:sym typeface="Inter Medium"/>
              </a:rPr>
              <a:t>Simple item details category, description, time, and location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6347" y="6930720"/>
            <a:ext cx="2120036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 b="true">
                <a:solidFill>
                  <a:srgbClr val="0F3B2D"/>
                </a:solidFill>
                <a:latin typeface="Inter Medium"/>
                <a:ea typeface="Inter Medium"/>
                <a:cs typeface="Inter Medium"/>
                <a:sym typeface="Inter Medium"/>
              </a:rPr>
              <a:t>Everything in one organized platform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13347" y="7909674"/>
            <a:ext cx="3419950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 b="true">
                <a:solidFill>
                  <a:srgbClr val="0F3B2D"/>
                </a:solidFill>
                <a:latin typeface="Inter Medium"/>
                <a:ea typeface="Inter Medium"/>
                <a:cs typeface="Inter Medium"/>
                <a:sym typeface="Inter Medium"/>
              </a:rPr>
              <a:t>Saves time and reduces stress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16809" y="8557291"/>
            <a:ext cx="3073833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79" b="true">
                <a:solidFill>
                  <a:srgbClr val="0F3B2D"/>
                </a:solidFill>
                <a:latin typeface="Inter Medium"/>
                <a:ea typeface="Inter Medium"/>
                <a:cs typeface="Inter Medium"/>
                <a:sym typeface="Inter Medium"/>
              </a:rPr>
              <a:t>Improves chances of reuniting items with owners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923818" y="3214004"/>
            <a:ext cx="3500096" cy="6646648"/>
          </a:xfrm>
          <a:custGeom>
            <a:avLst/>
            <a:gdLst/>
            <a:ahLst/>
            <a:cxnLst/>
            <a:rect r="r" b="b" t="t" l="l"/>
            <a:pathLst>
              <a:path h="6646648" w="3500096">
                <a:moveTo>
                  <a:pt x="0" y="0"/>
                </a:moveTo>
                <a:lnTo>
                  <a:pt x="3500096" y="0"/>
                </a:lnTo>
                <a:lnTo>
                  <a:pt x="3500096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289" y="637791"/>
            <a:ext cx="12807014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575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Smart Features, Built to Scale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8091" y="1923996"/>
            <a:ext cx="8126796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123" b="true">
                <a:solidFill>
                  <a:srgbClr val="0F2920"/>
                </a:solidFill>
                <a:latin typeface="Inter Medium"/>
                <a:ea typeface="Inter Medium"/>
                <a:cs typeface="Inter Medium"/>
                <a:sym typeface="Inter Medium"/>
              </a:rPr>
              <a:t>Core capabilities today. Scalable architecture for tomorrow.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569017"/>
            <a:ext cx="2843828" cy="655919"/>
          </a:xfrm>
          <a:custGeom>
            <a:avLst/>
            <a:gdLst/>
            <a:ahLst/>
            <a:cxnLst/>
            <a:rect r="r" b="b" t="t" l="l"/>
            <a:pathLst>
              <a:path h="655919" w="2843828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9786" y="2793647"/>
            <a:ext cx="2067496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b="true" sz="1916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WHAT USERS GET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3214004"/>
            <a:ext cx="6978316" cy="2153601"/>
          </a:xfrm>
          <a:custGeom>
            <a:avLst/>
            <a:gdLst/>
            <a:ahLst/>
            <a:cxnLst/>
            <a:rect r="r" b="b" t="t" l="l"/>
            <a:pathLst>
              <a:path h="2153601" w="6978316">
                <a:moveTo>
                  <a:pt x="0" y="0"/>
                </a:moveTo>
                <a:lnTo>
                  <a:pt x="6978316" y="0"/>
                </a:lnTo>
                <a:lnTo>
                  <a:pt x="6978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0559" y="3726430"/>
            <a:ext cx="3705860" cy="3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spc="-128" b="true">
                <a:solidFill>
                  <a:srgbClr val="0F292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Report and browse items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268" y="4207020"/>
            <a:ext cx="2434956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86">
                <a:solidFill>
                  <a:srgbClr val="0F2920"/>
                </a:solidFill>
                <a:latin typeface="Roboto"/>
                <a:ea typeface="Roboto"/>
                <a:cs typeface="Roboto"/>
                <a:sym typeface="Roboto"/>
              </a:rPr>
              <a:t>Clear listings with photos</a:t>
            </a:r>
          </a:p>
          <a:p>
            <a:pPr algn="l">
              <a:lnSpc>
                <a:spcPts val="2610"/>
              </a:lnSpc>
            </a:pPr>
            <a:r>
              <a:rPr lang="en-US" sz="1740" spc="-86">
                <a:solidFill>
                  <a:srgbClr val="0F2920"/>
                </a:solidFill>
                <a:latin typeface="Roboto"/>
                <a:ea typeface="Roboto"/>
                <a:cs typeface="Roboto"/>
                <a:sym typeface="Roboto"/>
              </a:rPr>
              <a:t>for lost and found items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779818" y="3421712"/>
            <a:ext cx="2406316" cy="1945894"/>
          </a:xfrm>
          <a:custGeom>
            <a:avLst/>
            <a:gdLst/>
            <a:ahLst/>
            <a:cxnLst/>
            <a:rect r="r" b="b" t="t" l="l"/>
            <a:pathLst>
              <a:path h="1945894" w="2406316">
                <a:moveTo>
                  <a:pt x="0" y="0"/>
                </a:moveTo>
                <a:lnTo>
                  <a:pt x="2406316" y="0"/>
                </a:lnTo>
                <a:lnTo>
                  <a:pt x="240631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6574" y="5356674"/>
            <a:ext cx="6978316" cy="2153601"/>
          </a:xfrm>
          <a:custGeom>
            <a:avLst/>
            <a:gdLst/>
            <a:ahLst/>
            <a:cxnLst/>
            <a:rect r="r" b="b" t="t" l="l"/>
            <a:pathLst>
              <a:path h="2153601" w="6978316">
                <a:moveTo>
                  <a:pt x="0" y="0"/>
                </a:moveTo>
                <a:lnTo>
                  <a:pt x="6978316" y="0"/>
                </a:lnTo>
                <a:lnTo>
                  <a:pt x="6978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0651" y="5880131"/>
            <a:ext cx="2696597" cy="3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spc="-128" b="true">
                <a:solidFill>
                  <a:srgbClr val="0F292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Search that works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0240" y="6345659"/>
            <a:ext cx="2737763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86">
                <a:solidFill>
                  <a:srgbClr val="0F2920"/>
                </a:solidFill>
                <a:latin typeface="Roboto"/>
                <a:ea typeface="Roboto"/>
                <a:cs typeface="Roboto"/>
                <a:sym typeface="Roboto"/>
              </a:rPr>
              <a:t>Find by category, keywords, and exact location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915732" y="5783021"/>
            <a:ext cx="3270402" cy="863627"/>
          </a:xfrm>
          <a:custGeom>
            <a:avLst/>
            <a:gdLst/>
            <a:ahLst/>
            <a:cxnLst/>
            <a:rect r="r" b="b" t="t" l="l"/>
            <a:pathLst>
              <a:path h="863627" w="3270402">
                <a:moveTo>
                  <a:pt x="0" y="0"/>
                </a:moveTo>
                <a:lnTo>
                  <a:pt x="3270402" y="0"/>
                </a:lnTo>
                <a:lnTo>
                  <a:pt x="327040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34488" y="5990729"/>
            <a:ext cx="437512" cy="448211"/>
          </a:xfrm>
          <a:custGeom>
            <a:avLst/>
            <a:gdLst/>
            <a:ahLst/>
            <a:cxnLst/>
            <a:rect r="r" b="b" t="t" l="l"/>
            <a:pathLst>
              <a:path h="448211" w="437512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915732" y="6428009"/>
            <a:ext cx="656268" cy="644987"/>
          </a:xfrm>
          <a:custGeom>
            <a:avLst/>
            <a:gdLst/>
            <a:ahLst/>
            <a:cxnLst/>
            <a:rect r="r" b="b" t="t" l="l"/>
            <a:pathLst>
              <a:path h="644987" w="656268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72000" y="6428009"/>
            <a:ext cx="1093780" cy="644987"/>
          </a:xfrm>
          <a:custGeom>
            <a:avLst/>
            <a:gdLst/>
            <a:ahLst/>
            <a:cxnLst/>
            <a:rect r="r" b="b" t="t" l="l"/>
            <a:pathLst>
              <a:path h="644987" w="1093780">
                <a:moveTo>
                  <a:pt x="0" y="0"/>
                </a:moveTo>
                <a:lnTo>
                  <a:pt x="1093780" y="0"/>
                </a:lnTo>
                <a:lnTo>
                  <a:pt x="109378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36086" y="6428009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11110" y="6428009"/>
            <a:ext cx="875024" cy="644987"/>
          </a:xfrm>
          <a:custGeom>
            <a:avLst/>
            <a:gdLst/>
            <a:ahLst/>
            <a:cxnLst/>
            <a:rect r="r" b="b" t="t" l="l"/>
            <a:pathLst>
              <a:path h="644987" w="875024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26574" y="7499343"/>
            <a:ext cx="6978316" cy="2361309"/>
          </a:xfrm>
          <a:custGeom>
            <a:avLst/>
            <a:gdLst/>
            <a:ahLst/>
            <a:cxnLst/>
            <a:rect r="r" b="b" t="t" l="l"/>
            <a:pathLst>
              <a:path h="2361309" w="6978316">
                <a:moveTo>
                  <a:pt x="0" y="0"/>
                </a:moveTo>
                <a:lnTo>
                  <a:pt x="6978316" y="0"/>
                </a:lnTo>
                <a:lnTo>
                  <a:pt x="6978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06354" y="8048892"/>
            <a:ext cx="3126285" cy="33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2575" spc="-128" b="true">
                <a:solidFill>
                  <a:srgbClr val="0F292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Safe and trustworthy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0615" y="8544543"/>
            <a:ext cx="2700247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86">
                <a:solidFill>
                  <a:srgbClr val="0F2920"/>
                </a:solidFill>
                <a:latin typeface="Roboto"/>
                <a:ea typeface="Roboto"/>
                <a:cs typeface="Roboto"/>
                <a:sym typeface="Roboto"/>
              </a:rPr>
              <a:t>Verified claims and privacy-conscious contact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134488" y="7925691"/>
            <a:ext cx="3051646" cy="1508614"/>
          </a:xfrm>
          <a:custGeom>
            <a:avLst/>
            <a:gdLst/>
            <a:ahLst/>
            <a:cxnLst/>
            <a:rect r="r" b="b" t="t" l="l"/>
            <a:pathLst>
              <a:path h="1508614" w="3051646">
                <a:moveTo>
                  <a:pt x="0" y="0"/>
                </a:moveTo>
                <a:lnTo>
                  <a:pt x="3051646" y="0"/>
                </a:lnTo>
                <a:lnTo>
                  <a:pt x="305164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72000" y="8352038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612708" y="2350377"/>
            <a:ext cx="4801694" cy="3651284"/>
          </a:xfrm>
          <a:custGeom>
            <a:avLst/>
            <a:gdLst/>
            <a:ahLst/>
            <a:cxnLst/>
            <a:rect r="r" b="b" t="t" l="l"/>
            <a:pathLst>
              <a:path h="3651284" w="4801694">
                <a:moveTo>
                  <a:pt x="0" y="0"/>
                </a:moveTo>
                <a:lnTo>
                  <a:pt x="4801694" y="0"/>
                </a:lnTo>
                <a:lnTo>
                  <a:pt x="480169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31464" y="2776725"/>
            <a:ext cx="3500096" cy="448211"/>
          </a:xfrm>
          <a:custGeom>
            <a:avLst/>
            <a:gdLst/>
            <a:ahLst/>
            <a:cxnLst/>
            <a:rect r="r" b="b" t="t" l="l"/>
            <a:pathLst>
              <a:path h="448211" w="3500096">
                <a:moveTo>
                  <a:pt x="0" y="0"/>
                </a:moveTo>
                <a:lnTo>
                  <a:pt x="3500096" y="0"/>
                </a:lnTo>
                <a:lnTo>
                  <a:pt x="350009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40927" y="2908486"/>
            <a:ext cx="2973685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8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BUILT ON A MODERN STACK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050220" y="3421712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576549" y="3456324"/>
            <a:ext cx="2273986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Responsive web app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79160" y="4676252"/>
            <a:ext cx="2012943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Scalable database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575215" y="5278686"/>
            <a:ext cx="2407410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Secure authentication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7612708" y="5990729"/>
            <a:ext cx="4801694" cy="3869923"/>
          </a:xfrm>
          <a:custGeom>
            <a:avLst/>
            <a:gdLst/>
            <a:ahLst/>
            <a:cxnLst/>
            <a:rect r="r" b="b" t="t" l="l"/>
            <a:pathLst>
              <a:path h="3869923" w="4801694">
                <a:moveTo>
                  <a:pt x="0" y="0"/>
                </a:moveTo>
                <a:lnTo>
                  <a:pt x="4801694" y="0"/>
                </a:lnTo>
                <a:lnTo>
                  <a:pt x="4801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31464" y="6209369"/>
            <a:ext cx="3281340" cy="655919"/>
          </a:xfrm>
          <a:custGeom>
            <a:avLst/>
            <a:gdLst/>
            <a:ahLst/>
            <a:cxnLst/>
            <a:rect r="r" b="b" t="t" l="l"/>
            <a:pathLst>
              <a:path h="655919" w="3281340">
                <a:moveTo>
                  <a:pt x="0" y="0"/>
                </a:moveTo>
                <a:lnTo>
                  <a:pt x="3281340" y="0"/>
                </a:lnTo>
                <a:lnTo>
                  <a:pt x="328134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144361" y="6462845"/>
            <a:ext cx="2630286" cy="23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784" spc="-8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BUILT FOR WHAT’S NEXT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050220" y="7062064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575395" y="7085987"/>
            <a:ext cx="2389377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AI-powered matching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80541" y="7718542"/>
            <a:ext cx="1874761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QR tags for items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71867" y="8320976"/>
            <a:ext cx="2742255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Smart alerts and updates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0652" y="8938470"/>
            <a:ext cx="2863756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Location-aware discovery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2184708" y="2350377"/>
            <a:ext cx="5676718" cy="7510275"/>
          </a:xfrm>
          <a:custGeom>
            <a:avLst/>
            <a:gdLst/>
            <a:ahLst/>
            <a:cxnLst/>
            <a:rect r="r" b="b" t="t" l="l"/>
            <a:pathLst>
              <a:path h="7510275" w="5676718">
                <a:moveTo>
                  <a:pt x="0" y="0"/>
                </a:moveTo>
                <a:lnTo>
                  <a:pt x="5676718" y="0"/>
                </a:lnTo>
                <a:lnTo>
                  <a:pt x="567671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8585428" y="4058758"/>
            <a:ext cx="1386076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backend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08711" y="8727841"/>
            <a:ext cx="1515579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>
                <a:solidFill>
                  <a:srgbClr val="0F2920"/>
                </a:solidFill>
                <a:latin typeface="Roboto"/>
                <a:ea typeface="Roboto"/>
                <a:cs typeface="Roboto"/>
                <a:sym typeface="Roboto"/>
              </a:rPr>
              <a:t>Contact shared safely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211920" y="8455230"/>
            <a:ext cx="1194765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spc="-80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Claim verified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43919" y="6137377"/>
            <a:ext cx="1022137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>
                <a:solidFill>
                  <a:srgbClr val="0F2920">
                    <a:alpha val="4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Search items...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34640" y="6739810"/>
            <a:ext cx="702455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Backpack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755276" y="6739810"/>
            <a:ext cx="437285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Wallet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06242" y="6739810"/>
            <a:ext cx="35002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Keys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04113" y="6739810"/>
            <a:ext cx="177005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59" b="true">
                <a:solidFill>
                  <a:srgbClr val="0F2920"/>
                </a:solidFill>
                <a:latin typeface="Roboto Bold"/>
                <a:ea typeface="Roboto Bold"/>
                <a:cs typeface="Roboto Bold"/>
                <a:sym typeface="Roboto Bold"/>
              </a:rPr>
              <a:t>All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2189" y="660980"/>
            <a:ext cx="11469352" cy="13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0"/>
              </a:lnSpc>
            </a:pPr>
            <a:r>
              <a:rPr lang="en-US" sz="9430" spc="-377" b="true">
                <a:solidFill>
                  <a:srgbClr val="F8EDE0"/>
                </a:solidFill>
                <a:latin typeface="Roboto Bold"/>
                <a:ea typeface="Roboto Bold"/>
                <a:cs typeface="Roboto Bold"/>
                <a:sym typeface="Roboto Bold"/>
              </a:rPr>
              <a:t>Trust. Recover. Reuse.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350377"/>
            <a:ext cx="448450" cy="1727254"/>
          </a:xfrm>
          <a:custGeom>
            <a:avLst/>
            <a:gdLst/>
            <a:ahLst/>
            <a:cxnLst/>
            <a:rect r="r" b="b" t="t" l="l"/>
            <a:pathLst>
              <a:path h="1727254" w="448450">
                <a:moveTo>
                  <a:pt x="0" y="0"/>
                </a:moveTo>
                <a:lnTo>
                  <a:pt x="448450" y="0"/>
                </a:lnTo>
                <a:lnTo>
                  <a:pt x="44845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842" y="2350377"/>
            <a:ext cx="5676718" cy="1727254"/>
          </a:xfrm>
          <a:custGeom>
            <a:avLst/>
            <a:gdLst/>
            <a:ahLst/>
            <a:cxnLst/>
            <a:rect r="r" b="b" t="t" l="l"/>
            <a:pathLst>
              <a:path h="1727254" w="5676718">
                <a:moveTo>
                  <a:pt x="0" y="0"/>
                </a:moveTo>
                <a:lnTo>
                  <a:pt x="5676718" y="0"/>
                </a:lnTo>
                <a:lnTo>
                  <a:pt x="567671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5067" y="2806836"/>
            <a:ext cx="3190957" cy="99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28" spc="-99" b="true">
                <a:solidFill>
                  <a:srgbClr val="102B26"/>
                </a:solidFill>
                <a:latin typeface="Inter Bold"/>
                <a:ea typeface="Inter Bold"/>
                <a:cs typeface="Inter Bold"/>
                <a:sym typeface="Inter Bold"/>
              </a:rPr>
              <a:t>Faster reunions, </a:t>
            </a:r>
          </a:p>
          <a:p>
            <a:pPr algn="l">
              <a:lnSpc>
                <a:spcPts val="3995"/>
              </a:lnSpc>
            </a:pPr>
            <a:r>
              <a:rPr lang="en-US" sz="3328" spc="-99" b="true">
                <a:solidFill>
                  <a:srgbClr val="102B26"/>
                </a:solidFill>
                <a:latin typeface="Inter Bold"/>
                <a:ea typeface="Inter Bold"/>
                <a:cs typeface="Inter Bold"/>
                <a:sym typeface="Inter Bold"/>
              </a:rPr>
              <a:t>less waste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066699"/>
            <a:ext cx="448450" cy="1934962"/>
          </a:xfrm>
          <a:custGeom>
            <a:avLst/>
            <a:gdLst/>
            <a:ahLst/>
            <a:cxnLst/>
            <a:rect r="r" b="b" t="t" l="l"/>
            <a:pathLst>
              <a:path h="1934962" w="448450">
                <a:moveTo>
                  <a:pt x="0" y="0"/>
                </a:moveTo>
                <a:lnTo>
                  <a:pt x="448450" y="0"/>
                </a:lnTo>
                <a:lnTo>
                  <a:pt x="44845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2842" y="4066699"/>
            <a:ext cx="5676718" cy="1934962"/>
          </a:xfrm>
          <a:custGeom>
            <a:avLst/>
            <a:gdLst/>
            <a:ahLst/>
            <a:cxnLst/>
            <a:rect r="r" b="b" t="t" l="l"/>
            <a:pathLst>
              <a:path h="1934962" w="5676718">
                <a:moveTo>
                  <a:pt x="0" y="0"/>
                </a:moveTo>
                <a:lnTo>
                  <a:pt x="5676718" y="0"/>
                </a:lnTo>
                <a:lnTo>
                  <a:pt x="567671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4641" y="4330730"/>
            <a:ext cx="3233540" cy="145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spc="-96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Built for colleges, offices, events, </a:t>
            </a:r>
          </a:p>
          <a:p>
            <a:pPr algn="l">
              <a:lnSpc>
                <a:spcPts val="3881"/>
              </a:lnSpc>
            </a:pPr>
            <a:r>
              <a:rPr lang="en-US" sz="3234" spc="-96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and public venues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990729"/>
            <a:ext cx="448450" cy="1945894"/>
          </a:xfrm>
          <a:custGeom>
            <a:avLst/>
            <a:gdLst/>
            <a:ahLst/>
            <a:cxnLst/>
            <a:rect r="r" b="b" t="t" l="l"/>
            <a:pathLst>
              <a:path h="1945894" w="448450">
                <a:moveTo>
                  <a:pt x="0" y="0"/>
                </a:moveTo>
                <a:lnTo>
                  <a:pt x="448450" y="0"/>
                </a:lnTo>
                <a:lnTo>
                  <a:pt x="44845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2842" y="5990729"/>
            <a:ext cx="5676718" cy="1945894"/>
          </a:xfrm>
          <a:custGeom>
            <a:avLst/>
            <a:gdLst/>
            <a:ahLst/>
            <a:cxnLst/>
            <a:rect r="r" b="b" t="t" l="l"/>
            <a:pathLst>
              <a:path h="1945894" w="5676718">
                <a:moveTo>
                  <a:pt x="0" y="0"/>
                </a:moveTo>
                <a:lnTo>
                  <a:pt x="5676718" y="0"/>
                </a:lnTo>
                <a:lnTo>
                  <a:pt x="567671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97777" y="6233931"/>
            <a:ext cx="2919955" cy="141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Privacy first. </a:t>
            </a:r>
          </a:p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We verify before </a:t>
            </a:r>
          </a:p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every handover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7925691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2842" y="7925691"/>
            <a:ext cx="5676718" cy="1508614"/>
          </a:xfrm>
          <a:custGeom>
            <a:avLst/>
            <a:gdLst/>
            <a:ahLst/>
            <a:cxnLst/>
            <a:rect r="r" b="b" t="t" l="l"/>
            <a:pathLst>
              <a:path h="1508614" w="5676718">
                <a:moveTo>
                  <a:pt x="0" y="0"/>
                </a:moveTo>
                <a:lnTo>
                  <a:pt x="5676718" y="0"/>
                </a:lnTo>
                <a:lnTo>
                  <a:pt x="567671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9056" y="8176780"/>
            <a:ext cx="4792087" cy="9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FoundIt turns everyday </a:t>
            </a:r>
          </a:p>
          <a:p>
            <a:pPr algn="l">
              <a:lnSpc>
                <a:spcPts val="3723"/>
              </a:lnSpc>
            </a:pPr>
            <a:r>
              <a:rPr lang="en-US" sz="3102" spc="-92" b="true">
                <a:solidFill>
                  <a:srgbClr val="102B26"/>
                </a:solidFill>
                <a:latin typeface="Roboto Bold"/>
                <a:ea typeface="Roboto Bold"/>
                <a:cs typeface="Roboto Bold"/>
                <a:sym typeface="Roboto Bold"/>
              </a:rPr>
              <a:t>loss into community </a:t>
            </a:r>
            <a:r>
              <a:rPr lang="en-US" sz="3102" spc="-92" b="true">
                <a:solidFill>
                  <a:srgbClr val="B03F2F"/>
                </a:solidFill>
                <a:latin typeface="Roboto Bold"/>
                <a:ea typeface="Roboto Bold"/>
                <a:cs typeface="Roboto Bold"/>
                <a:sym typeface="Roboto Bold"/>
              </a:rPr>
              <a:t>impact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528440" y="1705390"/>
            <a:ext cx="6114230" cy="6876220"/>
          </a:xfrm>
          <a:custGeom>
            <a:avLst/>
            <a:gdLst/>
            <a:ahLst/>
            <a:cxnLst/>
            <a:rect r="r" b="b" t="t" l="l"/>
            <a:pathLst>
              <a:path h="6876220" w="6114230">
                <a:moveTo>
                  <a:pt x="0" y="0"/>
                </a:moveTo>
                <a:lnTo>
                  <a:pt x="6114230" y="0"/>
                </a:lnTo>
                <a:lnTo>
                  <a:pt x="6114230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87732" y="6854356"/>
            <a:ext cx="3489158" cy="2153601"/>
          </a:xfrm>
          <a:custGeom>
            <a:avLst/>
            <a:gdLst/>
            <a:ahLst/>
            <a:cxnLst/>
            <a:rect r="r" b="b" t="t" l="l"/>
            <a:pathLst>
              <a:path h="2153601" w="3489158">
                <a:moveTo>
                  <a:pt x="0" y="0"/>
                </a:moveTo>
                <a:lnTo>
                  <a:pt x="3489158" y="0"/>
                </a:lnTo>
                <a:lnTo>
                  <a:pt x="348915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64354" y="8133399"/>
            <a:ext cx="1968804" cy="1519546"/>
          </a:xfrm>
          <a:custGeom>
            <a:avLst/>
            <a:gdLst/>
            <a:ahLst/>
            <a:cxnLst/>
            <a:rect r="r" b="b" t="t" l="l"/>
            <a:pathLst>
              <a:path h="1519546" w="1968804">
                <a:moveTo>
                  <a:pt x="0" y="0"/>
                </a:moveTo>
                <a:lnTo>
                  <a:pt x="1968804" y="0"/>
                </a:lnTo>
                <a:lnTo>
                  <a:pt x="196880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184708" y="8352038"/>
            <a:ext cx="2843828" cy="1934962"/>
          </a:xfrm>
          <a:custGeom>
            <a:avLst/>
            <a:gdLst/>
            <a:ahLst/>
            <a:cxnLst/>
            <a:rect r="r" b="b" t="t" l="l"/>
            <a:pathLst>
              <a:path h="1934962" w="2843828">
                <a:moveTo>
                  <a:pt x="0" y="0"/>
                </a:moveTo>
                <a:lnTo>
                  <a:pt x="2843828" y="0"/>
                </a:lnTo>
                <a:lnTo>
                  <a:pt x="284382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017598" y="8570678"/>
            <a:ext cx="3270402" cy="1082267"/>
          </a:xfrm>
          <a:custGeom>
            <a:avLst/>
            <a:gdLst/>
            <a:ahLst/>
            <a:cxnLst/>
            <a:rect r="r" b="b" t="t" l="l"/>
            <a:pathLst>
              <a:path h="1082267" w="3270402">
                <a:moveTo>
                  <a:pt x="0" y="0"/>
                </a:moveTo>
                <a:lnTo>
                  <a:pt x="3270402" y="0"/>
                </a:lnTo>
                <a:lnTo>
                  <a:pt x="327040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523808" y="8933210"/>
            <a:ext cx="2061523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b="true" sz="3588" spc="-106">
                <a:solidFill>
                  <a:srgbClr val="102B26"/>
                </a:solidFill>
                <a:latin typeface="Inter Bold"/>
                <a:ea typeface="Inter Bold"/>
                <a:cs typeface="Inter Bold"/>
                <a:sym typeface="Inter Bold"/>
              </a:rPr>
              <a:t>SIH26219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DAHX9ekkh6s</dc:identifier>
  <dcterms:modified xsi:type="dcterms:W3CDTF">2011-08-01T06:04:30Z</dcterms:modified>
  <cp:revision>1</cp:revision>
  <dc:title>FoundIt Pitch Deck</dc:title>
</cp:coreProperties>
</file>